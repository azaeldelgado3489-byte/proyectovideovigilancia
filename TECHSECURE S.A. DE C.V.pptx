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Canva Sans Bold" panose="020B0604020202020204" charset="0"/>
      <p:regular r:id="rId21"/>
    </p:embeddedFont>
    <p:embeddedFont>
      <p:font typeface="Poppins" panose="00000500000000000000" pitchFamily="2" charset="0"/>
      <p:regular r:id="rId22"/>
    </p:embeddedFont>
    <p:embeddedFont>
      <p:font typeface="Poppins Bold" panose="020B0604020202020204" charset="0"/>
      <p:regular r:id="rId23"/>
    </p:embeddedFont>
    <p:embeddedFont>
      <p:font typeface="Poppins Bold Italics" panose="020B0604020202020204" charset="0"/>
      <p:regular r:id="rId24"/>
    </p:embeddedFont>
    <p:embeddedFont>
      <p:font typeface="Times New Roman MT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611945">
            <a:off x="14458950" y="4723039"/>
            <a:ext cx="7658100" cy="5426529"/>
            <a:chOff x="0" y="0"/>
            <a:chExt cx="2016948" cy="14292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6948" cy="1429209"/>
            </a:xfrm>
            <a:custGeom>
              <a:avLst/>
              <a:gdLst/>
              <a:ahLst/>
              <a:cxnLst/>
              <a:rect l="l" t="t" r="r" b="b"/>
              <a:pathLst>
                <a:path w="2016948" h="1429209">
                  <a:moveTo>
                    <a:pt x="51558" y="0"/>
                  </a:moveTo>
                  <a:lnTo>
                    <a:pt x="1965390" y="0"/>
                  </a:lnTo>
                  <a:cubicBezTo>
                    <a:pt x="1979064" y="0"/>
                    <a:pt x="1992178" y="5432"/>
                    <a:pt x="2001847" y="15101"/>
                  </a:cubicBezTo>
                  <a:cubicBezTo>
                    <a:pt x="2011516" y="24770"/>
                    <a:pt x="2016948" y="37884"/>
                    <a:pt x="2016948" y="51558"/>
                  </a:cubicBezTo>
                  <a:lnTo>
                    <a:pt x="2016948" y="1377651"/>
                  </a:lnTo>
                  <a:cubicBezTo>
                    <a:pt x="2016948" y="1391325"/>
                    <a:pt x="2011516" y="1404439"/>
                    <a:pt x="2001847" y="1414108"/>
                  </a:cubicBezTo>
                  <a:cubicBezTo>
                    <a:pt x="1992178" y="1423777"/>
                    <a:pt x="1979064" y="1429209"/>
                    <a:pt x="1965390" y="1429209"/>
                  </a:cubicBezTo>
                  <a:lnTo>
                    <a:pt x="51558" y="1429209"/>
                  </a:lnTo>
                  <a:cubicBezTo>
                    <a:pt x="37884" y="1429209"/>
                    <a:pt x="24770" y="1423777"/>
                    <a:pt x="15101" y="1414108"/>
                  </a:cubicBezTo>
                  <a:cubicBezTo>
                    <a:pt x="5432" y="1404439"/>
                    <a:pt x="0" y="1391325"/>
                    <a:pt x="0" y="1377651"/>
                  </a:cubicBezTo>
                  <a:lnTo>
                    <a:pt x="0" y="51558"/>
                  </a:lnTo>
                  <a:cubicBezTo>
                    <a:pt x="0" y="37884"/>
                    <a:pt x="5432" y="24770"/>
                    <a:pt x="15101" y="15101"/>
                  </a:cubicBezTo>
                  <a:cubicBezTo>
                    <a:pt x="24770" y="5432"/>
                    <a:pt x="37884" y="0"/>
                    <a:pt x="5155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33375"/>
              <a:ext cx="2016948" cy="17625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611945">
            <a:off x="-614581" y="-1866767"/>
            <a:ext cx="3031341" cy="2798456"/>
            <a:chOff x="0" y="0"/>
            <a:chExt cx="798378" cy="7370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98378" cy="737042"/>
            </a:xfrm>
            <a:custGeom>
              <a:avLst/>
              <a:gdLst/>
              <a:ahLst/>
              <a:cxnLst/>
              <a:rect l="l" t="t" r="r" b="b"/>
              <a:pathLst>
                <a:path w="798378" h="737042">
                  <a:moveTo>
                    <a:pt x="130252" y="0"/>
                  </a:moveTo>
                  <a:lnTo>
                    <a:pt x="668126" y="0"/>
                  </a:lnTo>
                  <a:cubicBezTo>
                    <a:pt x="702671" y="0"/>
                    <a:pt x="735801" y="13723"/>
                    <a:pt x="760228" y="38150"/>
                  </a:cubicBezTo>
                  <a:cubicBezTo>
                    <a:pt x="784655" y="62577"/>
                    <a:pt x="798378" y="95707"/>
                    <a:pt x="798378" y="130252"/>
                  </a:cubicBezTo>
                  <a:lnTo>
                    <a:pt x="798378" y="606790"/>
                  </a:lnTo>
                  <a:cubicBezTo>
                    <a:pt x="798378" y="678726"/>
                    <a:pt x="740062" y="737042"/>
                    <a:pt x="668126" y="737042"/>
                  </a:cubicBezTo>
                  <a:lnTo>
                    <a:pt x="130252" y="737042"/>
                  </a:lnTo>
                  <a:cubicBezTo>
                    <a:pt x="58316" y="737042"/>
                    <a:pt x="0" y="678726"/>
                    <a:pt x="0" y="606790"/>
                  </a:cubicBezTo>
                  <a:lnTo>
                    <a:pt x="0" y="130252"/>
                  </a:lnTo>
                  <a:cubicBezTo>
                    <a:pt x="0" y="58316"/>
                    <a:pt x="58316" y="0"/>
                    <a:pt x="1302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33375"/>
              <a:ext cx="798378" cy="1070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611945">
            <a:off x="12055325" y="9566947"/>
            <a:ext cx="3031341" cy="2798456"/>
            <a:chOff x="0" y="0"/>
            <a:chExt cx="798378" cy="7370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8378" cy="737042"/>
            </a:xfrm>
            <a:custGeom>
              <a:avLst/>
              <a:gdLst/>
              <a:ahLst/>
              <a:cxnLst/>
              <a:rect l="l" t="t" r="r" b="b"/>
              <a:pathLst>
                <a:path w="798378" h="737042">
                  <a:moveTo>
                    <a:pt x="130252" y="0"/>
                  </a:moveTo>
                  <a:lnTo>
                    <a:pt x="668126" y="0"/>
                  </a:lnTo>
                  <a:cubicBezTo>
                    <a:pt x="702671" y="0"/>
                    <a:pt x="735801" y="13723"/>
                    <a:pt x="760228" y="38150"/>
                  </a:cubicBezTo>
                  <a:cubicBezTo>
                    <a:pt x="784655" y="62577"/>
                    <a:pt x="798378" y="95707"/>
                    <a:pt x="798378" y="130252"/>
                  </a:cubicBezTo>
                  <a:lnTo>
                    <a:pt x="798378" y="606790"/>
                  </a:lnTo>
                  <a:cubicBezTo>
                    <a:pt x="798378" y="678726"/>
                    <a:pt x="740062" y="737042"/>
                    <a:pt x="668126" y="737042"/>
                  </a:cubicBezTo>
                  <a:lnTo>
                    <a:pt x="130252" y="737042"/>
                  </a:lnTo>
                  <a:cubicBezTo>
                    <a:pt x="58316" y="737042"/>
                    <a:pt x="0" y="678726"/>
                    <a:pt x="0" y="606790"/>
                  </a:cubicBezTo>
                  <a:lnTo>
                    <a:pt x="0" y="130252"/>
                  </a:lnTo>
                  <a:cubicBezTo>
                    <a:pt x="0" y="58316"/>
                    <a:pt x="58316" y="0"/>
                    <a:pt x="1302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33375"/>
              <a:ext cx="798378" cy="1070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2685369" y="2361575"/>
            <a:ext cx="8396517" cy="0"/>
          </a:xfrm>
          <a:prstGeom prst="line">
            <a:avLst/>
          </a:prstGeom>
          <a:ln w="4762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2" name="Group 12"/>
          <p:cNvGrpSpPr/>
          <p:nvPr/>
        </p:nvGrpSpPr>
        <p:grpSpPr>
          <a:xfrm rot="-2611945">
            <a:off x="12744473" y="42362"/>
            <a:ext cx="8101900" cy="3702724"/>
            <a:chOff x="0" y="0"/>
            <a:chExt cx="2133834" cy="9752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33834" cy="975203"/>
            </a:xfrm>
            <a:custGeom>
              <a:avLst/>
              <a:gdLst/>
              <a:ahLst/>
              <a:cxnLst/>
              <a:rect l="l" t="t" r="r" b="b"/>
              <a:pathLst>
                <a:path w="2133834" h="975203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789597">
            <a:off x="2783268" y="1538257"/>
            <a:ext cx="606050" cy="530294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7000" y="-3175"/>
              <a:ext cx="558800" cy="66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934373" y="1610929"/>
            <a:ext cx="6713467" cy="750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b="1" i="1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TECHSECURE S.A. DE C.V</a:t>
            </a:r>
          </a:p>
        </p:txBody>
      </p:sp>
      <p:grpSp>
        <p:nvGrpSpPr>
          <p:cNvPr id="19" name="Group 19"/>
          <p:cNvGrpSpPr/>
          <p:nvPr/>
        </p:nvGrpSpPr>
        <p:grpSpPr>
          <a:xfrm rot="-2789597">
            <a:off x="3155942" y="1822819"/>
            <a:ext cx="431165" cy="377270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7000" y="-3175"/>
              <a:ext cx="558800" cy="66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2611945">
            <a:off x="10808920" y="-3972270"/>
            <a:ext cx="8101900" cy="3702724"/>
            <a:chOff x="0" y="0"/>
            <a:chExt cx="2133834" cy="97520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33834" cy="975203"/>
            </a:xfrm>
            <a:custGeom>
              <a:avLst/>
              <a:gdLst/>
              <a:ahLst/>
              <a:cxnLst/>
              <a:rect l="l" t="t" r="r" b="b"/>
              <a:pathLst>
                <a:path w="2133834" h="975203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MX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 rot="-2611945">
            <a:off x="-6128725" y="8307085"/>
            <a:ext cx="8101900" cy="3702724"/>
            <a:chOff x="0" y="0"/>
            <a:chExt cx="2133834" cy="97520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33834" cy="975203"/>
            </a:xfrm>
            <a:custGeom>
              <a:avLst/>
              <a:gdLst/>
              <a:ahLst/>
              <a:cxnLst/>
              <a:rect l="l" t="t" r="r" b="b"/>
              <a:pathLst>
                <a:path w="2133834" h="975203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382101" y="2985767"/>
            <a:ext cx="2976267" cy="677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Integrantes: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280324" y="3891950"/>
            <a:ext cx="5534530" cy="1334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Abel Azael Delgado Cervantes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412093" y="5457549"/>
            <a:ext cx="4916283" cy="1334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Marcos Alberto Muñoz Ortiz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80324" y="7023148"/>
            <a:ext cx="5534530" cy="1334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Angel Alan Moreno Maldonado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503507">
            <a:off x="8249399" y="1316288"/>
            <a:ext cx="12583451" cy="6795882"/>
            <a:chOff x="0" y="0"/>
            <a:chExt cx="3314160" cy="17898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14160" cy="1789862"/>
            </a:xfrm>
            <a:custGeom>
              <a:avLst/>
              <a:gdLst/>
              <a:ahLst/>
              <a:cxnLst/>
              <a:rect l="l" t="t" r="r" b="b"/>
              <a:pathLst>
                <a:path w="3314160" h="1789862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758484"/>
                  </a:lnTo>
                  <a:cubicBezTo>
                    <a:pt x="3314160" y="1775814"/>
                    <a:pt x="3300112" y="1789862"/>
                    <a:pt x="3282783" y="1789862"/>
                  </a:cubicBezTo>
                  <a:lnTo>
                    <a:pt x="31378" y="1789862"/>
                  </a:lnTo>
                  <a:cubicBezTo>
                    <a:pt x="14048" y="1789862"/>
                    <a:pt x="0" y="1775814"/>
                    <a:pt x="0" y="1758484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1800AD">
                <a:alpha val="64706"/>
              </a:srgbClr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33375"/>
              <a:ext cx="3314160" cy="2123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28400" y="1493268"/>
            <a:ext cx="6830900" cy="7300465"/>
            <a:chOff x="0" y="0"/>
            <a:chExt cx="1799085" cy="1922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99085" cy="1922756"/>
            </a:xfrm>
            <a:custGeom>
              <a:avLst/>
              <a:gdLst/>
              <a:ahLst/>
              <a:cxnLst/>
              <a:rect l="l" t="t" r="r" b="b"/>
              <a:pathLst>
                <a:path w="1799085" h="1922756">
                  <a:moveTo>
                    <a:pt x="57802" y="0"/>
                  </a:moveTo>
                  <a:lnTo>
                    <a:pt x="1741283" y="0"/>
                  </a:lnTo>
                  <a:cubicBezTo>
                    <a:pt x="1756613" y="0"/>
                    <a:pt x="1771315" y="6090"/>
                    <a:pt x="1782155" y="16930"/>
                  </a:cubicBezTo>
                  <a:cubicBezTo>
                    <a:pt x="1792995" y="27770"/>
                    <a:pt x="1799085" y="42472"/>
                    <a:pt x="1799085" y="57802"/>
                  </a:cubicBezTo>
                  <a:lnTo>
                    <a:pt x="1799085" y="1864955"/>
                  </a:lnTo>
                  <a:cubicBezTo>
                    <a:pt x="1799085" y="1896878"/>
                    <a:pt x="1773206" y="1922756"/>
                    <a:pt x="1741283" y="1922756"/>
                  </a:cubicBezTo>
                  <a:lnTo>
                    <a:pt x="57802" y="1922756"/>
                  </a:lnTo>
                  <a:cubicBezTo>
                    <a:pt x="25879" y="1922756"/>
                    <a:pt x="0" y="1896878"/>
                    <a:pt x="0" y="1864955"/>
                  </a:cubicBezTo>
                  <a:lnTo>
                    <a:pt x="0" y="57802"/>
                  </a:lnTo>
                  <a:cubicBezTo>
                    <a:pt x="0" y="25879"/>
                    <a:pt x="25879" y="0"/>
                    <a:pt x="5780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33375"/>
              <a:ext cx="1799085" cy="2256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-2185362" y="3210262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9" name="Group 9"/>
          <p:cNvGrpSpPr/>
          <p:nvPr/>
        </p:nvGrpSpPr>
        <p:grpSpPr>
          <a:xfrm>
            <a:off x="10804860" y="1888814"/>
            <a:ext cx="6077981" cy="6509372"/>
            <a:chOff x="0" y="0"/>
            <a:chExt cx="787019" cy="8428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87019" cy="842878"/>
            </a:xfrm>
            <a:custGeom>
              <a:avLst/>
              <a:gdLst/>
              <a:ahLst/>
              <a:cxnLst/>
              <a:rect l="l" t="t" r="r" b="b"/>
              <a:pathLst>
                <a:path w="787019" h="842878">
                  <a:moveTo>
                    <a:pt x="0" y="0"/>
                  </a:moveTo>
                  <a:lnTo>
                    <a:pt x="787019" y="0"/>
                  </a:lnTo>
                  <a:lnTo>
                    <a:pt x="787019" y="842878"/>
                  </a:lnTo>
                  <a:lnTo>
                    <a:pt x="0" y="842878"/>
                  </a:lnTo>
                  <a:close/>
                </a:path>
              </a:pathLst>
            </a:custGeom>
            <a:blipFill>
              <a:blip r:embed="rId2"/>
              <a:stretch>
                <a:fillRect l="-21398" r="-21398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5948" y="931827"/>
            <a:ext cx="7506414" cy="1913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sz="71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PROBLEMATICA DE LA EMPRESA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5948" y="3580610"/>
            <a:ext cx="6576869" cy="2912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5"/>
              </a:lnSpc>
              <a:spcBef>
                <a:spcPct val="0"/>
              </a:spcBef>
            </a:pPr>
            <a:r>
              <a:rPr lang="en-US" sz="2441" u="none" spc="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Empresa </a:t>
            </a:r>
            <a:r>
              <a:rPr lang="en-US" sz="2441" u="none" spc="7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TechSecure</a:t>
            </a:r>
            <a:r>
              <a:rPr lang="en-US" sz="2441" u="none" spc="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S.A. de C.V. </a:t>
            </a:r>
            <a:r>
              <a:rPr lang="en-US" sz="2441" u="none" spc="7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busca</a:t>
            </a:r>
            <a:r>
              <a:rPr lang="en-US" sz="2441" u="none" spc="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41" u="none" spc="7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contratar</a:t>
            </a:r>
            <a:r>
              <a:rPr lang="en-US" sz="2441" u="none" spc="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un </a:t>
            </a:r>
            <a:r>
              <a:rPr lang="en-US" sz="2441" u="none" spc="7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proveedor</a:t>
            </a:r>
            <a:r>
              <a:rPr lang="en-US" sz="2441" u="none" spc="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41" u="none" spc="7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especializado</a:t>
            </a:r>
            <a:r>
              <a:rPr lang="en-US" sz="2441" u="none" spc="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441" u="none" spc="7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implementar</a:t>
            </a:r>
            <a:r>
              <a:rPr lang="en-US" sz="2441" u="none" spc="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un </a:t>
            </a:r>
            <a:r>
              <a:rPr lang="en-US" sz="2441" u="none" spc="7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sistema</a:t>
            </a:r>
            <a:r>
              <a:rPr lang="en-US" sz="2441" u="none" spc="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control de </a:t>
            </a:r>
            <a:r>
              <a:rPr lang="en-US" sz="2441" u="none" spc="7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seguridad</a:t>
            </a:r>
            <a:r>
              <a:rPr lang="en-US" sz="2441" u="none" spc="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2441" u="none" spc="7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cámaras</a:t>
            </a:r>
            <a:r>
              <a:rPr lang="en-US" sz="2441" u="none" spc="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IP, con </a:t>
            </a:r>
            <a:r>
              <a:rPr lang="en-US" sz="2441" u="none" spc="7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441" u="none" spc="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41" u="none" spc="7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r>
              <a:rPr lang="en-US" sz="2441" u="none" spc="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441" u="none" spc="7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garantizar</a:t>
            </a:r>
            <a:r>
              <a:rPr lang="en-US" sz="2441" u="none" spc="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41" u="none" spc="7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441" u="none" spc="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41" u="none" spc="7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acceso</a:t>
            </a:r>
            <a:r>
              <a:rPr lang="en-US" sz="2441" u="none" spc="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41" u="none" spc="7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seguro</a:t>
            </a:r>
            <a:r>
              <a:rPr lang="en-US" sz="2441" u="none" spc="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al personal y </a:t>
            </a:r>
            <a:r>
              <a:rPr lang="en-US" sz="2441" u="none" spc="7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visitantes</a:t>
            </a:r>
            <a:r>
              <a:rPr lang="en-US" sz="2441" u="none" spc="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98537" y="-35618"/>
            <a:ext cx="10389463" cy="9425677"/>
            <a:chOff x="0" y="0"/>
            <a:chExt cx="2736319" cy="24824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319" cy="2482483"/>
            </a:xfrm>
            <a:custGeom>
              <a:avLst/>
              <a:gdLst/>
              <a:ahLst/>
              <a:cxnLst/>
              <a:rect l="l" t="t" r="r" b="b"/>
              <a:pathLst>
                <a:path w="2736319" h="2482483">
                  <a:moveTo>
                    <a:pt x="0" y="0"/>
                  </a:moveTo>
                  <a:lnTo>
                    <a:pt x="2736319" y="0"/>
                  </a:lnTo>
                  <a:lnTo>
                    <a:pt x="2736319" y="2482483"/>
                  </a:lnTo>
                  <a:lnTo>
                    <a:pt x="0" y="2482483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736319" cy="2530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5472" y="4352052"/>
            <a:ext cx="7167241" cy="1457724"/>
            <a:chOff x="0" y="0"/>
            <a:chExt cx="1887668" cy="3839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87668" cy="383927"/>
            </a:xfrm>
            <a:custGeom>
              <a:avLst/>
              <a:gdLst/>
              <a:ahLst/>
              <a:cxnLst/>
              <a:rect l="l" t="t" r="r" b="b"/>
              <a:pathLst>
                <a:path w="1887668" h="383927">
                  <a:moveTo>
                    <a:pt x="55089" y="0"/>
                  </a:moveTo>
                  <a:lnTo>
                    <a:pt x="1832579" y="0"/>
                  </a:lnTo>
                  <a:cubicBezTo>
                    <a:pt x="1863004" y="0"/>
                    <a:pt x="1887668" y="24664"/>
                    <a:pt x="1887668" y="55089"/>
                  </a:cubicBezTo>
                  <a:lnTo>
                    <a:pt x="1887668" y="328838"/>
                  </a:lnTo>
                  <a:cubicBezTo>
                    <a:pt x="1887668" y="343449"/>
                    <a:pt x="1881864" y="357461"/>
                    <a:pt x="1871533" y="367792"/>
                  </a:cubicBezTo>
                  <a:cubicBezTo>
                    <a:pt x="1861202" y="378123"/>
                    <a:pt x="1847190" y="383927"/>
                    <a:pt x="1832579" y="383927"/>
                  </a:cubicBezTo>
                  <a:lnTo>
                    <a:pt x="55089" y="383927"/>
                  </a:lnTo>
                  <a:cubicBezTo>
                    <a:pt x="24664" y="383927"/>
                    <a:pt x="0" y="359263"/>
                    <a:pt x="0" y="328838"/>
                  </a:cubicBezTo>
                  <a:lnTo>
                    <a:pt x="0" y="55089"/>
                  </a:lnTo>
                  <a:cubicBezTo>
                    <a:pt x="0" y="24664"/>
                    <a:pt x="24664" y="0"/>
                    <a:pt x="55089" y="0"/>
                  </a:cubicBezTo>
                  <a:close/>
                </a:path>
              </a:pathLst>
            </a:custGeom>
            <a:solidFill>
              <a:srgbClr val="3533CD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33375"/>
              <a:ext cx="1887668" cy="717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90138" y="4645953"/>
            <a:ext cx="5493069" cy="927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</a:t>
            </a:r>
          </a:p>
        </p:txBody>
      </p:sp>
      <p:sp>
        <p:nvSpPr>
          <p:cNvPr id="9" name="AutoShape 9"/>
          <p:cNvSpPr/>
          <p:nvPr/>
        </p:nvSpPr>
        <p:spPr>
          <a:xfrm>
            <a:off x="6693735" y="5162543"/>
            <a:ext cx="785257" cy="21292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s-MX"/>
          </a:p>
        </p:txBody>
      </p:sp>
      <p:grpSp>
        <p:nvGrpSpPr>
          <p:cNvPr id="10" name="Group 10"/>
          <p:cNvGrpSpPr/>
          <p:nvPr/>
        </p:nvGrpSpPr>
        <p:grpSpPr>
          <a:xfrm>
            <a:off x="8290614" y="339849"/>
            <a:ext cx="862324" cy="8623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-257175"/>
              <a:ext cx="660400" cy="99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539358" y="339233"/>
            <a:ext cx="364836" cy="77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7"/>
              </a:lnSpc>
            </a:pPr>
            <a:r>
              <a:rPr lang="en-US" sz="456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51160" y="292224"/>
            <a:ext cx="7492465" cy="784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04"/>
              </a:lnSpc>
            </a:pPr>
            <a:r>
              <a:rPr lang="en-US" sz="2299" spc="7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 sistema que registre las salidas y entradas del personal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290614" y="1709541"/>
            <a:ext cx="862324" cy="86232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-257175"/>
              <a:ext cx="660400" cy="99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539358" y="1708925"/>
            <a:ext cx="364836" cy="77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7"/>
              </a:lnSpc>
            </a:pPr>
            <a:r>
              <a:rPr lang="en-US" sz="456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51160" y="1919742"/>
            <a:ext cx="7492465" cy="39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04"/>
              </a:lnSpc>
            </a:pPr>
            <a:r>
              <a:rPr lang="en-US" sz="2299" spc="7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Almacenar las imagenes en un servidor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8290614" y="3076690"/>
            <a:ext cx="862324" cy="8623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-257175"/>
              <a:ext cx="660400" cy="99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539358" y="3076074"/>
            <a:ext cx="364836" cy="77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7"/>
              </a:lnSpc>
            </a:pPr>
            <a:r>
              <a:rPr lang="en-US" sz="456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51160" y="3286891"/>
            <a:ext cx="7492465" cy="39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04"/>
              </a:lnSpc>
            </a:pPr>
            <a:r>
              <a:rPr lang="en-US" sz="2299" spc="7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Utilizar únicamente software libre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289520" y="4352052"/>
            <a:ext cx="862324" cy="862324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-257175"/>
              <a:ext cx="660400" cy="99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8538264" y="4351436"/>
            <a:ext cx="364836" cy="77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7"/>
              </a:lnSpc>
            </a:pPr>
            <a:r>
              <a:rPr lang="en-US" sz="456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650066" y="4562253"/>
            <a:ext cx="7492465" cy="39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04"/>
              </a:lnSpc>
            </a:pPr>
            <a:r>
              <a:rPr lang="en-US" sz="2299" spc="7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Funcionalidad de reconocimiento de rostros</a:t>
            </a:r>
          </a:p>
        </p:txBody>
      </p:sp>
      <p:grpSp>
        <p:nvGrpSpPr>
          <p:cNvPr id="30" name="Group 30"/>
          <p:cNvGrpSpPr/>
          <p:nvPr/>
        </p:nvGrpSpPr>
        <p:grpSpPr>
          <a:xfrm rot="-3503507">
            <a:off x="-1237423" y="9232458"/>
            <a:ext cx="5002588" cy="3986497"/>
            <a:chOff x="0" y="0"/>
            <a:chExt cx="1317554" cy="104994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17554" cy="1049942"/>
            </a:xfrm>
            <a:custGeom>
              <a:avLst/>
              <a:gdLst/>
              <a:ahLst/>
              <a:cxnLst/>
              <a:rect l="l" t="t" r="r" b="b"/>
              <a:pathLst>
                <a:path w="1317554" h="1049942">
                  <a:moveTo>
                    <a:pt x="78927" y="0"/>
                  </a:moveTo>
                  <a:lnTo>
                    <a:pt x="1238627" y="0"/>
                  </a:lnTo>
                  <a:cubicBezTo>
                    <a:pt x="1282217" y="0"/>
                    <a:pt x="1317554" y="35337"/>
                    <a:pt x="1317554" y="78927"/>
                  </a:cubicBezTo>
                  <a:lnTo>
                    <a:pt x="1317554" y="971015"/>
                  </a:lnTo>
                  <a:cubicBezTo>
                    <a:pt x="1317554" y="991947"/>
                    <a:pt x="1309239" y="1012023"/>
                    <a:pt x="1294437" y="1026824"/>
                  </a:cubicBezTo>
                  <a:cubicBezTo>
                    <a:pt x="1279635" y="1041626"/>
                    <a:pt x="1259560" y="1049942"/>
                    <a:pt x="1238627" y="1049942"/>
                  </a:cubicBezTo>
                  <a:lnTo>
                    <a:pt x="78927" y="1049942"/>
                  </a:lnTo>
                  <a:cubicBezTo>
                    <a:pt x="35337" y="1049942"/>
                    <a:pt x="0" y="1014605"/>
                    <a:pt x="0" y="971015"/>
                  </a:cubicBezTo>
                  <a:lnTo>
                    <a:pt x="0" y="78927"/>
                  </a:lnTo>
                  <a:cubicBezTo>
                    <a:pt x="0" y="35337"/>
                    <a:pt x="35337" y="0"/>
                    <a:pt x="789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33375"/>
              <a:ext cx="1317554" cy="1383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290614" y="5573026"/>
            <a:ext cx="862324" cy="862324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-257175"/>
              <a:ext cx="660400" cy="99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8539358" y="5572409"/>
            <a:ext cx="364836" cy="77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7"/>
              </a:lnSpc>
            </a:pPr>
            <a:r>
              <a:rPr lang="en-US" sz="456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651160" y="5783226"/>
            <a:ext cx="7492465" cy="39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04"/>
              </a:lnSpc>
            </a:pPr>
            <a:r>
              <a:rPr lang="en-US" sz="2299" spc="7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Acceso remoto al sistema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8289520" y="6797300"/>
            <a:ext cx="862324" cy="862324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200" y="-257175"/>
              <a:ext cx="660400" cy="99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8538264" y="6796683"/>
            <a:ext cx="364836" cy="77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7"/>
              </a:lnSpc>
            </a:pPr>
            <a:r>
              <a:rPr lang="en-US" sz="456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650066" y="7007500"/>
            <a:ext cx="7492465" cy="39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04"/>
              </a:lnSpc>
            </a:pPr>
            <a:r>
              <a:rPr lang="en-US" sz="2299" spc="7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Generación de reportes y alertas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539358" y="8020957"/>
            <a:ext cx="364836" cy="77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7"/>
              </a:lnSpc>
            </a:pPr>
            <a:r>
              <a:rPr lang="en-US" sz="456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88981" y="356519"/>
            <a:ext cx="5565113" cy="672181"/>
            <a:chOff x="0" y="0"/>
            <a:chExt cx="1465709" cy="177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50566" y="9258300"/>
            <a:ext cx="5291291" cy="672181"/>
            <a:chOff x="0" y="0"/>
            <a:chExt cx="1393591" cy="1770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93591" cy="177035"/>
            </a:xfrm>
            <a:custGeom>
              <a:avLst/>
              <a:gdLst/>
              <a:ahLst/>
              <a:cxnLst/>
              <a:rect l="l" t="t" r="r" b="b"/>
              <a:pathLst>
                <a:path w="1393591" h="177035">
                  <a:moveTo>
                    <a:pt x="74620" y="0"/>
                  </a:moveTo>
                  <a:lnTo>
                    <a:pt x="1318971" y="0"/>
                  </a:lnTo>
                  <a:cubicBezTo>
                    <a:pt x="1360182" y="0"/>
                    <a:pt x="1393591" y="33409"/>
                    <a:pt x="1393591" y="74620"/>
                  </a:cubicBezTo>
                  <a:lnTo>
                    <a:pt x="1393591" y="102415"/>
                  </a:lnTo>
                  <a:cubicBezTo>
                    <a:pt x="1393591" y="143627"/>
                    <a:pt x="1360182" y="177035"/>
                    <a:pt x="1318971" y="177035"/>
                  </a:cubicBezTo>
                  <a:lnTo>
                    <a:pt x="74620" y="177035"/>
                  </a:lnTo>
                  <a:cubicBezTo>
                    <a:pt x="33409" y="177035"/>
                    <a:pt x="0" y="143627"/>
                    <a:pt x="0" y="102415"/>
                  </a:cubicBezTo>
                  <a:lnTo>
                    <a:pt x="0" y="74620"/>
                  </a:lnTo>
                  <a:cubicBezTo>
                    <a:pt x="0" y="33409"/>
                    <a:pt x="33409" y="0"/>
                    <a:pt x="7462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33375"/>
              <a:ext cx="1393591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4684910" y="1242804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9" name="Freeform 9"/>
          <p:cNvSpPr/>
          <p:nvPr/>
        </p:nvSpPr>
        <p:spPr>
          <a:xfrm>
            <a:off x="1350780" y="1476167"/>
            <a:ext cx="15330614" cy="7588654"/>
          </a:xfrm>
          <a:custGeom>
            <a:avLst/>
            <a:gdLst/>
            <a:ahLst/>
            <a:cxnLst/>
            <a:rect l="l" t="t" r="r" b="b"/>
            <a:pathLst>
              <a:path w="15330614" h="7588654">
                <a:moveTo>
                  <a:pt x="0" y="0"/>
                </a:moveTo>
                <a:lnTo>
                  <a:pt x="15330614" y="0"/>
                </a:lnTo>
                <a:lnTo>
                  <a:pt x="15330614" y="7588653"/>
                </a:lnTo>
                <a:lnTo>
                  <a:pt x="0" y="75886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TextBox 10"/>
          <p:cNvSpPr txBox="1"/>
          <p:nvPr/>
        </p:nvSpPr>
        <p:spPr>
          <a:xfrm>
            <a:off x="3537434" y="166228"/>
            <a:ext cx="11213132" cy="1109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FUNCION DE REPORTES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4602" y="9198170"/>
            <a:ext cx="14152141" cy="879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Serivicio de reportes automatizado para que llegue a tu correo todos los dias a las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12 pm, avisándote de los eventos detectados durante el 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503507">
            <a:off x="-10782204" y="-521746"/>
            <a:ext cx="12583451" cy="7382737"/>
            <a:chOff x="0" y="0"/>
            <a:chExt cx="3314160" cy="19444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14160" cy="1944425"/>
            </a:xfrm>
            <a:custGeom>
              <a:avLst/>
              <a:gdLst/>
              <a:ahLst/>
              <a:cxnLst/>
              <a:rect l="l" t="t" r="r" b="b"/>
              <a:pathLst>
                <a:path w="3314160" h="1944425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45850" y="1627571"/>
            <a:ext cx="9648917" cy="7056502"/>
            <a:chOff x="0" y="0"/>
            <a:chExt cx="12865223" cy="9408670"/>
          </a:xfrm>
        </p:grpSpPr>
        <p:sp>
          <p:nvSpPr>
            <p:cNvPr id="6" name="AutoShape 6"/>
            <p:cNvSpPr/>
            <p:nvPr/>
          </p:nvSpPr>
          <p:spPr>
            <a:xfrm flipV="1">
              <a:off x="19106" y="19050"/>
              <a:ext cx="12846060" cy="37895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AutoShape 7"/>
            <p:cNvSpPr/>
            <p:nvPr/>
          </p:nvSpPr>
          <p:spPr>
            <a:xfrm flipH="1">
              <a:off x="19050" y="75995"/>
              <a:ext cx="19050" cy="9307338"/>
            </a:xfrm>
            <a:prstGeom prst="line">
              <a:avLst/>
            </a:prstGeom>
            <a:ln w="38100" cap="flat">
              <a:solidFill>
                <a:srgbClr val="8D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AutoShape 8"/>
            <p:cNvSpPr/>
            <p:nvPr/>
          </p:nvSpPr>
          <p:spPr>
            <a:xfrm flipH="1">
              <a:off x="12827123" y="34237"/>
              <a:ext cx="19050" cy="9307338"/>
            </a:xfrm>
            <a:prstGeom prst="line">
              <a:avLst/>
            </a:prstGeom>
            <a:ln w="38100" cap="flat">
              <a:solidFill>
                <a:srgbClr val="8D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AutoShape 9"/>
            <p:cNvSpPr/>
            <p:nvPr/>
          </p:nvSpPr>
          <p:spPr>
            <a:xfrm flipV="1">
              <a:off x="56" y="9351724"/>
              <a:ext cx="12846060" cy="37895"/>
            </a:xfrm>
            <a:prstGeom prst="line">
              <a:avLst/>
            </a:prstGeom>
            <a:ln w="38100" cap="flat">
              <a:solidFill>
                <a:srgbClr val="8D2B2B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0" name="AutoShape 10"/>
          <p:cNvSpPr/>
          <p:nvPr/>
        </p:nvSpPr>
        <p:spPr>
          <a:xfrm>
            <a:off x="-3431438" y="2920106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1" name="Group 11"/>
          <p:cNvGrpSpPr/>
          <p:nvPr/>
        </p:nvGrpSpPr>
        <p:grpSpPr>
          <a:xfrm>
            <a:off x="7798382" y="3501492"/>
            <a:ext cx="3854654" cy="2920225"/>
            <a:chOff x="0" y="0"/>
            <a:chExt cx="499127" cy="3781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99127" cy="378131"/>
            </a:xfrm>
            <a:custGeom>
              <a:avLst/>
              <a:gdLst/>
              <a:ahLst/>
              <a:cxnLst/>
              <a:rect l="l" t="t" r="r" b="b"/>
              <a:pathLst>
                <a:path w="499127" h="378131">
                  <a:moveTo>
                    <a:pt x="0" y="0"/>
                  </a:moveTo>
                  <a:lnTo>
                    <a:pt x="499127" y="0"/>
                  </a:lnTo>
                  <a:lnTo>
                    <a:pt x="499127" y="378131"/>
                  </a:lnTo>
                  <a:lnTo>
                    <a:pt x="0" y="378131"/>
                  </a:lnTo>
                  <a:close/>
                </a:path>
              </a:pathLst>
            </a:custGeom>
            <a:blipFill>
              <a:blip r:embed="rId2"/>
              <a:stretch>
                <a:fillRect l="-3853" r="-3853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375691" y="3501492"/>
            <a:ext cx="3854654" cy="2920225"/>
            <a:chOff x="0" y="0"/>
            <a:chExt cx="499127" cy="37813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9127" cy="378131"/>
            </a:xfrm>
            <a:custGeom>
              <a:avLst/>
              <a:gdLst/>
              <a:ahLst/>
              <a:cxnLst/>
              <a:rect l="l" t="t" r="r" b="b"/>
              <a:pathLst>
                <a:path w="499127" h="378131">
                  <a:moveTo>
                    <a:pt x="0" y="0"/>
                  </a:moveTo>
                  <a:lnTo>
                    <a:pt x="499127" y="0"/>
                  </a:lnTo>
                  <a:lnTo>
                    <a:pt x="499127" y="378131"/>
                  </a:lnTo>
                  <a:lnTo>
                    <a:pt x="0" y="378131"/>
                  </a:lnTo>
                  <a:close/>
                </a:path>
              </a:pathLst>
            </a:custGeom>
            <a:blipFill>
              <a:blip r:embed="rId3"/>
              <a:stretch>
                <a:fillRect l="-49682" r="-49682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950825" y="15948"/>
            <a:ext cx="13888461" cy="141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COMO LO IMPLEMENTAMOS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0259" y="5365372"/>
            <a:ext cx="5315235" cy="8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499" spc="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Consultas a la bd para traer los eventos</a:t>
            </a:r>
          </a:p>
        </p:txBody>
      </p:sp>
      <p:grpSp>
        <p:nvGrpSpPr>
          <p:cNvPr id="17" name="Group 17"/>
          <p:cNvGrpSpPr/>
          <p:nvPr/>
        </p:nvGrpSpPr>
        <p:grpSpPr>
          <a:xfrm rot="-3503507">
            <a:off x="13267078" y="7679361"/>
            <a:ext cx="12583451" cy="7382737"/>
            <a:chOff x="0" y="0"/>
            <a:chExt cx="3314160" cy="194442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314160" cy="1944425"/>
            </a:xfrm>
            <a:custGeom>
              <a:avLst/>
              <a:gdLst/>
              <a:ahLst/>
              <a:cxnLst/>
              <a:rect l="l" t="t" r="r" b="b"/>
              <a:pathLst>
                <a:path w="3314160" h="1944425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61474" y="3198294"/>
            <a:ext cx="5752806" cy="879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Utilizamos apis tales como fastapi  y APIRouter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422" y="4264099"/>
            <a:ext cx="5752806" cy="879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Librerías como Jinja2, psycopg y smtplib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0259" y="6542601"/>
            <a:ext cx="5315235" cy="428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499" spc="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Formato HTML y CSS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0259" y="7304639"/>
            <a:ext cx="5315235" cy="8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499" spc="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Una dirección de correo electrónico y un app password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88981" y="356519"/>
            <a:ext cx="4454905" cy="672181"/>
            <a:chOff x="0" y="0"/>
            <a:chExt cx="1173308" cy="177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3308" cy="177035"/>
            </a:xfrm>
            <a:custGeom>
              <a:avLst/>
              <a:gdLst/>
              <a:ahLst/>
              <a:cxnLst/>
              <a:rect l="l" t="t" r="r" b="b"/>
              <a:pathLst>
                <a:path w="1173308" h="177035">
                  <a:moveTo>
                    <a:pt x="88518" y="0"/>
                  </a:moveTo>
                  <a:lnTo>
                    <a:pt x="1084791" y="0"/>
                  </a:lnTo>
                  <a:cubicBezTo>
                    <a:pt x="1108267" y="0"/>
                    <a:pt x="1130782" y="9326"/>
                    <a:pt x="1147382" y="25926"/>
                  </a:cubicBezTo>
                  <a:cubicBezTo>
                    <a:pt x="1163982" y="42526"/>
                    <a:pt x="1173308" y="65041"/>
                    <a:pt x="1173308" y="88518"/>
                  </a:cubicBezTo>
                  <a:lnTo>
                    <a:pt x="1173308" y="88518"/>
                  </a:lnTo>
                  <a:cubicBezTo>
                    <a:pt x="1173308" y="111994"/>
                    <a:pt x="1163982" y="134509"/>
                    <a:pt x="1147382" y="151109"/>
                  </a:cubicBezTo>
                  <a:cubicBezTo>
                    <a:pt x="1130782" y="167709"/>
                    <a:pt x="1108267" y="177035"/>
                    <a:pt x="1084791" y="177035"/>
                  </a:cubicBezTo>
                  <a:lnTo>
                    <a:pt x="88518" y="177035"/>
                  </a:lnTo>
                  <a:cubicBezTo>
                    <a:pt x="65041" y="177035"/>
                    <a:pt x="42526" y="167709"/>
                    <a:pt x="25926" y="151109"/>
                  </a:cubicBezTo>
                  <a:cubicBezTo>
                    <a:pt x="9326" y="134509"/>
                    <a:pt x="0" y="111994"/>
                    <a:pt x="0" y="88518"/>
                  </a:cubicBezTo>
                  <a:lnTo>
                    <a:pt x="0" y="88518"/>
                  </a:lnTo>
                  <a:cubicBezTo>
                    <a:pt x="0" y="65041"/>
                    <a:pt x="9326" y="42526"/>
                    <a:pt x="25926" y="25926"/>
                  </a:cubicBezTo>
                  <a:cubicBezTo>
                    <a:pt x="42526" y="9326"/>
                    <a:pt x="65041" y="0"/>
                    <a:pt x="885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33375"/>
              <a:ext cx="1173308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586762" y="9258300"/>
            <a:ext cx="4455094" cy="672181"/>
            <a:chOff x="0" y="0"/>
            <a:chExt cx="1173358" cy="1770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3358" cy="177035"/>
            </a:xfrm>
            <a:custGeom>
              <a:avLst/>
              <a:gdLst/>
              <a:ahLst/>
              <a:cxnLst/>
              <a:rect l="l" t="t" r="r" b="b"/>
              <a:pathLst>
                <a:path w="1173358" h="177035">
                  <a:moveTo>
                    <a:pt x="88518" y="0"/>
                  </a:moveTo>
                  <a:lnTo>
                    <a:pt x="1084841" y="0"/>
                  </a:lnTo>
                  <a:cubicBezTo>
                    <a:pt x="1108317" y="0"/>
                    <a:pt x="1130832" y="9326"/>
                    <a:pt x="1147432" y="25926"/>
                  </a:cubicBezTo>
                  <a:cubicBezTo>
                    <a:pt x="1164032" y="42526"/>
                    <a:pt x="1173358" y="65041"/>
                    <a:pt x="1173358" y="88518"/>
                  </a:cubicBezTo>
                  <a:lnTo>
                    <a:pt x="1173358" y="88518"/>
                  </a:lnTo>
                  <a:cubicBezTo>
                    <a:pt x="1173358" y="111994"/>
                    <a:pt x="1164032" y="134509"/>
                    <a:pt x="1147432" y="151109"/>
                  </a:cubicBezTo>
                  <a:cubicBezTo>
                    <a:pt x="1130832" y="167709"/>
                    <a:pt x="1108317" y="177035"/>
                    <a:pt x="1084841" y="177035"/>
                  </a:cubicBezTo>
                  <a:lnTo>
                    <a:pt x="88518" y="177035"/>
                  </a:lnTo>
                  <a:cubicBezTo>
                    <a:pt x="65041" y="177035"/>
                    <a:pt x="42526" y="167709"/>
                    <a:pt x="25926" y="151109"/>
                  </a:cubicBezTo>
                  <a:cubicBezTo>
                    <a:pt x="9326" y="134509"/>
                    <a:pt x="0" y="111994"/>
                    <a:pt x="0" y="88518"/>
                  </a:cubicBezTo>
                  <a:lnTo>
                    <a:pt x="0" y="88518"/>
                  </a:lnTo>
                  <a:cubicBezTo>
                    <a:pt x="0" y="65041"/>
                    <a:pt x="9326" y="42526"/>
                    <a:pt x="25926" y="25926"/>
                  </a:cubicBezTo>
                  <a:cubicBezTo>
                    <a:pt x="42526" y="9326"/>
                    <a:pt x="65041" y="0"/>
                    <a:pt x="885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33375"/>
              <a:ext cx="1173358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965924" y="1218357"/>
            <a:ext cx="1550734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9" name="Freeform 9"/>
          <p:cNvSpPr/>
          <p:nvPr/>
        </p:nvSpPr>
        <p:spPr>
          <a:xfrm>
            <a:off x="4397393" y="1469099"/>
            <a:ext cx="7017774" cy="7348801"/>
          </a:xfrm>
          <a:custGeom>
            <a:avLst/>
            <a:gdLst/>
            <a:ahLst/>
            <a:cxnLst/>
            <a:rect l="l" t="t" r="r" b="b"/>
            <a:pathLst>
              <a:path w="7017774" h="7348801">
                <a:moveTo>
                  <a:pt x="0" y="0"/>
                </a:moveTo>
                <a:lnTo>
                  <a:pt x="7017774" y="0"/>
                </a:lnTo>
                <a:lnTo>
                  <a:pt x="7017774" y="7348802"/>
                </a:lnTo>
                <a:lnTo>
                  <a:pt x="0" y="7348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TextBox 10"/>
          <p:cNvSpPr txBox="1"/>
          <p:nvPr/>
        </p:nvSpPr>
        <p:spPr>
          <a:xfrm>
            <a:off x="1965924" y="233537"/>
            <a:ext cx="16322076" cy="98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FUNCION DE DETECCION DE ROSTROS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0209" y="9191625"/>
            <a:ext cx="14152141" cy="879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Mediante el uso de un script de Python toma captura una captura cuando detecta un rostro, graba un clip de 5 segundos de momento y lo sube a nuestra página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503507">
            <a:off x="-10782204" y="-521746"/>
            <a:ext cx="12583451" cy="7382737"/>
            <a:chOff x="0" y="0"/>
            <a:chExt cx="3314160" cy="19444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14160" cy="1944425"/>
            </a:xfrm>
            <a:custGeom>
              <a:avLst/>
              <a:gdLst/>
              <a:ahLst/>
              <a:cxnLst/>
              <a:rect l="l" t="t" r="r" b="b"/>
              <a:pathLst>
                <a:path w="3314160" h="1944425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3503507">
            <a:off x="13267078" y="7679361"/>
            <a:ext cx="12583451" cy="7382737"/>
            <a:chOff x="0" y="0"/>
            <a:chExt cx="3314160" cy="19444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14160" cy="1944425"/>
            </a:xfrm>
            <a:custGeom>
              <a:avLst/>
              <a:gdLst/>
              <a:ahLst/>
              <a:cxnLst/>
              <a:rect l="l" t="t" r="r" b="b"/>
              <a:pathLst>
                <a:path w="3314160" h="1944425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043018" y="326025"/>
            <a:ext cx="5309152" cy="2983709"/>
            <a:chOff x="0" y="0"/>
            <a:chExt cx="11299064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299064" cy="6350000"/>
            </a:xfrm>
            <a:custGeom>
              <a:avLst/>
              <a:gdLst/>
              <a:ahLst/>
              <a:cxnLst/>
              <a:rect l="l" t="t" r="r" b="b"/>
              <a:pathLst>
                <a:path w="11299064" h="6350000">
                  <a:moveTo>
                    <a:pt x="9039251" y="6350000"/>
                  </a:moveTo>
                  <a:lnTo>
                    <a:pt x="2259813" y="6350000"/>
                  </a:lnTo>
                  <a:cubicBezTo>
                    <a:pt x="1012396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1012396" y="0"/>
                    <a:pt x="2259813" y="0"/>
                  </a:cubicBezTo>
                  <a:lnTo>
                    <a:pt x="9039251" y="0"/>
                  </a:lnTo>
                  <a:cubicBezTo>
                    <a:pt x="10286668" y="0"/>
                    <a:pt x="11299064" y="568960"/>
                    <a:pt x="11299064" y="1270000"/>
                  </a:cubicBezTo>
                  <a:lnTo>
                    <a:pt x="11299064" y="5080000"/>
                  </a:lnTo>
                  <a:cubicBezTo>
                    <a:pt x="11299064" y="5781040"/>
                    <a:pt x="10286668" y="6350000"/>
                    <a:pt x="9039251" y="6350000"/>
                  </a:cubicBezTo>
                  <a:close/>
                </a:path>
              </a:pathLst>
            </a:custGeom>
            <a:blipFill>
              <a:blip r:embed="rId2"/>
              <a:stretch>
                <a:fillRect t="-3201" b="-3201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043018" y="3605923"/>
            <a:ext cx="4948695" cy="3175051"/>
            <a:chOff x="0" y="0"/>
            <a:chExt cx="9897229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897228" cy="6350000"/>
            </a:xfrm>
            <a:custGeom>
              <a:avLst/>
              <a:gdLst/>
              <a:ahLst/>
              <a:cxnLst/>
              <a:rect l="l" t="t" r="r" b="b"/>
              <a:pathLst>
                <a:path w="9897228" h="6350000">
                  <a:moveTo>
                    <a:pt x="7917783" y="6350000"/>
                  </a:moveTo>
                  <a:lnTo>
                    <a:pt x="1979446" y="6350000"/>
                  </a:lnTo>
                  <a:cubicBezTo>
                    <a:pt x="886792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886792" y="0"/>
                    <a:pt x="1979446" y="0"/>
                  </a:cubicBezTo>
                  <a:lnTo>
                    <a:pt x="7917783" y="0"/>
                  </a:lnTo>
                  <a:cubicBezTo>
                    <a:pt x="9010438" y="0"/>
                    <a:pt x="9897228" y="568960"/>
                    <a:pt x="9897228" y="1270000"/>
                  </a:cubicBezTo>
                  <a:lnTo>
                    <a:pt x="9897228" y="5080000"/>
                  </a:lnTo>
                  <a:cubicBezTo>
                    <a:pt x="9897228" y="5781040"/>
                    <a:pt x="9010438" y="6350000"/>
                    <a:pt x="7917783" y="6350000"/>
                  </a:cubicBezTo>
                  <a:close/>
                </a:path>
              </a:pathLst>
            </a:custGeom>
            <a:blipFill>
              <a:blip r:embed="rId3"/>
              <a:stretch>
                <a:fillRect t="-193023" r="-91937" b="-11075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73824" y="7156301"/>
            <a:ext cx="5287083" cy="2767700"/>
            <a:chOff x="0" y="0"/>
            <a:chExt cx="8288157" cy="43387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288158" cy="4338712"/>
            </a:xfrm>
            <a:custGeom>
              <a:avLst/>
              <a:gdLst/>
              <a:ahLst/>
              <a:cxnLst/>
              <a:rect l="l" t="t" r="r" b="b"/>
              <a:pathLst>
                <a:path w="8288158" h="4338712">
                  <a:moveTo>
                    <a:pt x="6630526" y="4338712"/>
                  </a:moveTo>
                  <a:lnTo>
                    <a:pt x="1657632" y="4338712"/>
                  </a:lnTo>
                  <a:cubicBezTo>
                    <a:pt x="742619" y="4338712"/>
                    <a:pt x="0" y="3949963"/>
                    <a:pt x="0" y="3470970"/>
                  </a:cubicBezTo>
                  <a:lnTo>
                    <a:pt x="0" y="867742"/>
                  </a:lnTo>
                  <a:cubicBezTo>
                    <a:pt x="0" y="388749"/>
                    <a:pt x="742619" y="0"/>
                    <a:pt x="1657632" y="0"/>
                  </a:cubicBezTo>
                  <a:lnTo>
                    <a:pt x="6630526" y="0"/>
                  </a:lnTo>
                  <a:cubicBezTo>
                    <a:pt x="7545539" y="0"/>
                    <a:pt x="8288158" y="388749"/>
                    <a:pt x="8288158" y="867742"/>
                  </a:cubicBezTo>
                  <a:lnTo>
                    <a:pt x="8288158" y="3470970"/>
                  </a:lnTo>
                  <a:cubicBezTo>
                    <a:pt x="8288158" y="3949963"/>
                    <a:pt x="7545539" y="4338712"/>
                    <a:pt x="6630526" y="4338712"/>
                  </a:cubicBezTo>
                  <a:close/>
                </a:path>
              </a:pathLst>
            </a:custGeom>
            <a:blipFill>
              <a:blip r:embed="rId4"/>
              <a:stretch>
                <a:fillRect t="-1100" b="-1100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069865" y="6860715"/>
            <a:ext cx="5326010" cy="0"/>
          </a:xfrm>
          <a:prstGeom prst="line">
            <a:avLst/>
          </a:prstGeom>
          <a:ln w="19050" cap="flat">
            <a:solidFill>
              <a:srgbClr val="3533C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Box 15"/>
          <p:cNvSpPr txBox="1"/>
          <p:nvPr/>
        </p:nvSpPr>
        <p:spPr>
          <a:xfrm>
            <a:off x="1069865" y="4002898"/>
            <a:ext cx="5522970" cy="2304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31"/>
              </a:lnSpc>
              <a:spcBef>
                <a:spcPct val="0"/>
              </a:spcBef>
            </a:pPr>
            <a:r>
              <a:rPr lang="en-US" sz="735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COMO FUNCIONA?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07292" y="1027979"/>
            <a:ext cx="4814616" cy="1740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6"/>
              </a:lnSpc>
              <a:spcBef>
                <a:spcPct val="0"/>
              </a:spcBef>
            </a:pPr>
            <a:r>
              <a:rPr lang="en-US" sz="23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Empezando con la importación de librerías se establece una conexión con la cámara por medio de rtsp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07292" y="4476846"/>
            <a:ext cx="4814616" cy="863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6"/>
              </a:lnSpc>
              <a:spcBef>
                <a:spcPct val="0"/>
              </a:spcBef>
            </a:pPr>
            <a:r>
              <a:rPr lang="en-US" sz="23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 face recognition y cv2 se detectan los rostros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07292" y="7080101"/>
            <a:ext cx="4662216" cy="217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6"/>
              </a:lnSpc>
              <a:spcBef>
                <a:spcPct val="0"/>
              </a:spcBef>
            </a:pPr>
            <a:r>
              <a:rPr lang="en-US" sz="23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crea un loop donde esta corriendo constantemente y al detectar el rostro y procesar el frame se manda por la api a la página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503507">
            <a:off x="5380001" y="9454402"/>
            <a:ext cx="5068421" cy="1710448"/>
            <a:chOff x="0" y="0"/>
            <a:chExt cx="1334893" cy="4504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4893" cy="450488"/>
            </a:xfrm>
            <a:custGeom>
              <a:avLst/>
              <a:gdLst/>
              <a:ahLst/>
              <a:cxnLst/>
              <a:rect l="l" t="t" r="r" b="b"/>
              <a:pathLst>
                <a:path w="1334893" h="450488">
                  <a:moveTo>
                    <a:pt x="77902" y="0"/>
                  </a:moveTo>
                  <a:lnTo>
                    <a:pt x="1256991" y="0"/>
                  </a:lnTo>
                  <a:cubicBezTo>
                    <a:pt x="1277652" y="0"/>
                    <a:pt x="1297467" y="8207"/>
                    <a:pt x="1312076" y="22817"/>
                  </a:cubicBezTo>
                  <a:cubicBezTo>
                    <a:pt x="1326685" y="37426"/>
                    <a:pt x="1334893" y="57241"/>
                    <a:pt x="1334893" y="77902"/>
                  </a:cubicBezTo>
                  <a:lnTo>
                    <a:pt x="1334893" y="372587"/>
                  </a:lnTo>
                  <a:cubicBezTo>
                    <a:pt x="1334893" y="393248"/>
                    <a:pt x="1326685" y="413062"/>
                    <a:pt x="1312076" y="427672"/>
                  </a:cubicBezTo>
                  <a:cubicBezTo>
                    <a:pt x="1297467" y="442281"/>
                    <a:pt x="1277652" y="450488"/>
                    <a:pt x="1256991" y="450488"/>
                  </a:cubicBezTo>
                  <a:lnTo>
                    <a:pt x="77902" y="450488"/>
                  </a:lnTo>
                  <a:cubicBezTo>
                    <a:pt x="57241" y="450488"/>
                    <a:pt x="37426" y="442281"/>
                    <a:pt x="22817" y="427672"/>
                  </a:cubicBezTo>
                  <a:cubicBezTo>
                    <a:pt x="8207" y="413062"/>
                    <a:pt x="0" y="393248"/>
                    <a:pt x="0" y="372587"/>
                  </a:cubicBezTo>
                  <a:lnTo>
                    <a:pt x="0" y="77902"/>
                  </a:lnTo>
                  <a:cubicBezTo>
                    <a:pt x="0" y="57241"/>
                    <a:pt x="8207" y="37426"/>
                    <a:pt x="22817" y="22817"/>
                  </a:cubicBezTo>
                  <a:cubicBezTo>
                    <a:pt x="37426" y="8207"/>
                    <a:pt x="57241" y="0"/>
                    <a:pt x="77902" y="0"/>
                  </a:cubicBezTo>
                  <a:close/>
                </a:path>
              </a:pathLst>
            </a:custGeom>
            <a:solidFill>
              <a:srgbClr val="FFE9E9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33375"/>
              <a:ext cx="1334893" cy="7838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3503507">
            <a:off x="551042" y="-1554003"/>
            <a:ext cx="5068421" cy="1710448"/>
            <a:chOff x="0" y="0"/>
            <a:chExt cx="1334893" cy="4504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4893" cy="450488"/>
            </a:xfrm>
            <a:custGeom>
              <a:avLst/>
              <a:gdLst/>
              <a:ahLst/>
              <a:cxnLst/>
              <a:rect l="l" t="t" r="r" b="b"/>
              <a:pathLst>
                <a:path w="1334893" h="450488">
                  <a:moveTo>
                    <a:pt x="77902" y="0"/>
                  </a:moveTo>
                  <a:lnTo>
                    <a:pt x="1256991" y="0"/>
                  </a:lnTo>
                  <a:cubicBezTo>
                    <a:pt x="1277652" y="0"/>
                    <a:pt x="1297467" y="8207"/>
                    <a:pt x="1312076" y="22817"/>
                  </a:cubicBezTo>
                  <a:cubicBezTo>
                    <a:pt x="1326685" y="37426"/>
                    <a:pt x="1334893" y="57241"/>
                    <a:pt x="1334893" y="77902"/>
                  </a:cubicBezTo>
                  <a:lnTo>
                    <a:pt x="1334893" y="372587"/>
                  </a:lnTo>
                  <a:cubicBezTo>
                    <a:pt x="1334893" y="393248"/>
                    <a:pt x="1326685" y="413062"/>
                    <a:pt x="1312076" y="427672"/>
                  </a:cubicBezTo>
                  <a:cubicBezTo>
                    <a:pt x="1297467" y="442281"/>
                    <a:pt x="1277652" y="450488"/>
                    <a:pt x="1256991" y="450488"/>
                  </a:cubicBezTo>
                  <a:lnTo>
                    <a:pt x="77902" y="450488"/>
                  </a:lnTo>
                  <a:cubicBezTo>
                    <a:pt x="57241" y="450488"/>
                    <a:pt x="37426" y="442281"/>
                    <a:pt x="22817" y="427672"/>
                  </a:cubicBezTo>
                  <a:cubicBezTo>
                    <a:pt x="8207" y="413062"/>
                    <a:pt x="0" y="393248"/>
                    <a:pt x="0" y="372587"/>
                  </a:cubicBezTo>
                  <a:lnTo>
                    <a:pt x="0" y="77902"/>
                  </a:lnTo>
                  <a:cubicBezTo>
                    <a:pt x="0" y="57241"/>
                    <a:pt x="8207" y="37426"/>
                    <a:pt x="22817" y="22817"/>
                  </a:cubicBezTo>
                  <a:cubicBezTo>
                    <a:pt x="37426" y="8207"/>
                    <a:pt x="57241" y="0"/>
                    <a:pt x="77902" y="0"/>
                  </a:cubicBezTo>
                  <a:close/>
                </a:path>
              </a:pathLst>
            </a:custGeom>
            <a:solidFill>
              <a:srgbClr val="5E17EB">
                <a:alpha val="45882"/>
              </a:srgbClr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33375"/>
              <a:ext cx="1334893" cy="7838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14350" y="3878881"/>
            <a:ext cx="17259300" cy="5481988"/>
          </a:xfrm>
          <a:custGeom>
            <a:avLst/>
            <a:gdLst/>
            <a:ahLst/>
            <a:cxnLst/>
            <a:rect l="l" t="t" r="r" b="b"/>
            <a:pathLst>
              <a:path w="17259300" h="5481988">
                <a:moveTo>
                  <a:pt x="0" y="0"/>
                </a:moveTo>
                <a:lnTo>
                  <a:pt x="17259300" y="0"/>
                </a:lnTo>
                <a:lnTo>
                  <a:pt x="17259300" y="5481988"/>
                </a:lnTo>
                <a:lnTo>
                  <a:pt x="0" y="54819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00" r="-2500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TextBox 9"/>
          <p:cNvSpPr txBox="1"/>
          <p:nvPr/>
        </p:nvSpPr>
        <p:spPr>
          <a:xfrm>
            <a:off x="2106043" y="876300"/>
            <a:ext cx="12039600" cy="993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42"/>
              </a:lnSpc>
              <a:spcBef>
                <a:spcPct val="0"/>
              </a:spcBef>
            </a:pPr>
            <a:r>
              <a:rPr lang="en-US" sz="5530" b="1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SERVICIOS UTILIZADOS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99318"/>
            <a:ext cx="13691142" cy="37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Servidor de Azure donde creamos todos estos archivos de configuración  y así quedó finalmente: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210993"/>
            <a:ext cx="17973013" cy="9076007"/>
            <a:chOff x="0" y="0"/>
            <a:chExt cx="1138230" cy="5747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38231" cy="574783"/>
            </a:xfrm>
            <a:custGeom>
              <a:avLst/>
              <a:gdLst/>
              <a:ahLst/>
              <a:cxnLst/>
              <a:rect l="l" t="t" r="r" b="b"/>
              <a:pathLst>
                <a:path w="1138231" h="574783">
                  <a:moveTo>
                    <a:pt x="0" y="0"/>
                  </a:moveTo>
                  <a:lnTo>
                    <a:pt x="1138231" y="0"/>
                  </a:lnTo>
                  <a:lnTo>
                    <a:pt x="1138231" y="574783"/>
                  </a:lnTo>
                  <a:lnTo>
                    <a:pt x="0" y="574783"/>
                  </a:lnTo>
                  <a:close/>
                </a:path>
              </a:pathLst>
            </a:custGeom>
            <a:blipFill>
              <a:blip r:embed="rId2"/>
              <a:stretch>
                <a:fillRect t="-5819" b="-5819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4" name="AutoShape 4"/>
          <p:cNvSpPr/>
          <p:nvPr/>
        </p:nvSpPr>
        <p:spPr>
          <a:xfrm flipV="1">
            <a:off x="4962226" y="1014412"/>
            <a:ext cx="696554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6098997" y="57150"/>
            <a:ext cx="5559437" cy="893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5"/>
              </a:lnSpc>
            </a:pPr>
            <a:r>
              <a:rPr lang="en-US" sz="6235" b="1">
                <a:solidFill>
                  <a:srgbClr val="3533CD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29352" y="542966"/>
            <a:ext cx="9557249" cy="104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0"/>
              </a:lnSpc>
            </a:pPr>
            <a:r>
              <a:rPr lang="en-US" sz="7300" b="1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IMPLEMENTACION</a:t>
            </a:r>
          </a:p>
        </p:txBody>
      </p:sp>
      <p:sp>
        <p:nvSpPr>
          <p:cNvPr id="6" name="AutoShape 6"/>
          <p:cNvSpPr/>
          <p:nvPr/>
        </p:nvSpPr>
        <p:spPr>
          <a:xfrm>
            <a:off x="3212831" y="1599859"/>
            <a:ext cx="1060214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3493371" y="2973497"/>
            <a:ext cx="11301259" cy="5523490"/>
          </a:xfrm>
          <a:custGeom>
            <a:avLst/>
            <a:gdLst/>
            <a:ahLst/>
            <a:cxnLst/>
            <a:rect l="l" t="t" r="r" b="b"/>
            <a:pathLst>
              <a:path w="11301259" h="5523490">
                <a:moveTo>
                  <a:pt x="0" y="0"/>
                </a:moveTo>
                <a:lnTo>
                  <a:pt x="11301258" y="0"/>
                </a:lnTo>
                <a:lnTo>
                  <a:pt x="11301258" y="5523491"/>
                </a:lnTo>
                <a:lnTo>
                  <a:pt x="0" y="5523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TextBox 8"/>
          <p:cNvSpPr txBox="1"/>
          <p:nvPr/>
        </p:nvSpPr>
        <p:spPr>
          <a:xfrm>
            <a:off x="7046742" y="1614148"/>
            <a:ext cx="3604245" cy="68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Login de la </a:t>
            </a:r>
            <a:r>
              <a:rPr lang="en-US" sz="3599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página</a:t>
            </a:r>
            <a:endParaRPr lang="en-US" sz="3599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29352" y="542966"/>
            <a:ext cx="9557249" cy="104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0"/>
              </a:lnSpc>
            </a:pPr>
            <a:r>
              <a:rPr lang="en-US" sz="730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IMPLEMENTACION</a:t>
            </a:r>
          </a:p>
        </p:txBody>
      </p:sp>
      <p:sp>
        <p:nvSpPr>
          <p:cNvPr id="6" name="AutoShape 6"/>
          <p:cNvSpPr/>
          <p:nvPr/>
        </p:nvSpPr>
        <p:spPr>
          <a:xfrm>
            <a:off x="3212831" y="1599859"/>
            <a:ext cx="1060214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3493371" y="2986101"/>
            <a:ext cx="11301259" cy="6272199"/>
          </a:xfrm>
          <a:custGeom>
            <a:avLst/>
            <a:gdLst/>
            <a:ahLst/>
            <a:cxnLst/>
            <a:rect l="l" t="t" r="r" b="b"/>
            <a:pathLst>
              <a:path w="11301259" h="6272199">
                <a:moveTo>
                  <a:pt x="0" y="0"/>
                </a:moveTo>
                <a:lnTo>
                  <a:pt x="11301258" y="0"/>
                </a:lnTo>
                <a:lnTo>
                  <a:pt x="11301258" y="6272199"/>
                </a:lnTo>
                <a:lnTo>
                  <a:pt x="0" y="6272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TextBox 8"/>
          <p:cNvSpPr txBox="1"/>
          <p:nvPr/>
        </p:nvSpPr>
        <p:spPr>
          <a:xfrm>
            <a:off x="4106186" y="1614148"/>
            <a:ext cx="9693920" cy="68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Pantalla</a:t>
            </a:r>
            <a:r>
              <a:rPr lang="en-US" sz="35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</a:t>
            </a:r>
            <a:r>
              <a:rPr lang="en-US" sz="3599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inicio</a:t>
            </a:r>
            <a:r>
              <a:rPr lang="en-US" sz="35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599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donde</a:t>
            </a:r>
            <a:r>
              <a:rPr lang="en-US" sz="35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599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</a:t>
            </a:r>
            <a:r>
              <a:rPr lang="en-US" sz="35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599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muestra</a:t>
            </a:r>
            <a:r>
              <a:rPr lang="en-US" sz="35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la </a:t>
            </a:r>
            <a:r>
              <a:rPr lang="en-US" sz="3599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fecha</a:t>
            </a:r>
            <a:r>
              <a:rPr lang="en-US" sz="35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actual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29352" y="542966"/>
            <a:ext cx="9557249" cy="104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0"/>
              </a:lnSpc>
            </a:pPr>
            <a:r>
              <a:rPr lang="en-US" sz="730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IMPLEMENTACION</a:t>
            </a:r>
          </a:p>
        </p:txBody>
      </p:sp>
      <p:sp>
        <p:nvSpPr>
          <p:cNvPr id="6" name="AutoShape 6"/>
          <p:cNvSpPr/>
          <p:nvPr/>
        </p:nvSpPr>
        <p:spPr>
          <a:xfrm>
            <a:off x="3212831" y="1599859"/>
            <a:ext cx="1060214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3380846" y="3130746"/>
            <a:ext cx="11301259" cy="5551743"/>
          </a:xfrm>
          <a:custGeom>
            <a:avLst/>
            <a:gdLst/>
            <a:ahLst/>
            <a:cxnLst/>
            <a:rect l="l" t="t" r="r" b="b"/>
            <a:pathLst>
              <a:path w="11301259" h="5551743">
                <a:moveTo>
                  <a:pt x="0" y="0"/>
                </a:moveTo>
                <a:lnTo>
                  <a:pt x="11301259" y="0"/>
                </a:lnTo>
                <a:lnTo>
                  <a:pt x="11301259" y="5551744"/>
                </a:lnTo>
                <a:lnTo>
                  <a:pt x="0" y="5551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TextBox 8"/>
          <p:cNvSpPr txBox="1"/>
          <p:nvPr/>
        </p:nvSpPr>
        <p:spPr>
          <a:xfrm>
            <a:off x="6629400" y="1675767"/>
            <a:ext cx="4505958" cy="68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Último día con </a:t>
            </a:r>
            <a:r>
              <a:rPr lang="en-US" sz="3599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eventos</a:t>
            </a:r>
            <a:endParaRPr lang="en-US" sz="3599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29352" y="542966"/>
            <a:ext cx="9557249" cy="104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0"/>
              </a:lnSpc>
            </a:pPr>
            <a:r>
              <a:rPr lang="en-US" sz="730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IMPLEMENTACION</a:t>
            </a:r>
          </a:p>
        </p:txBody>
      </p:sp>
      <p:sp>
        <p:nvSpPr>
          <p:cNvPr id="6" name="AutoShape 6"/>
          <p:cNvSpPr/>
          <p:nvPr/>
        </p:nvSpPr>
        <p:spPr>
          <a:xfrm>
            <a:off x="3212831" y="1599859"/>
            <a:ext cx="1060214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3300036" y="3174465"/>
            <a:ext cx="11097659" cy="5194969"/>
          </a:xfrm>
          <a:custGeom>
            <a:avLst/>
            <a:gdLst/>
            <a:ahLst/>
            <a:cxnLst/>
            <a:rect l="l" t="t" r="r" b="b"/>
            <a:pathLst>
              <a:path w="11097659" h="5194969">
                <a:moveTo>
                  <a:pt x="0" y="0"/>
                </a:moveTo>
                <a:lnTo>
                  <a:pt x="11097659" y="0"/>
                </a:lnTo>
                <a:lnTo>
                  <a:pt x="11097659" y="5194970"/>
                </a:lnTo>
                <a:lnTo>
                  <a:pt x="0" y="5194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TextBox 8"/>
          <p:cNvSpPr txBox="1"/>
          <p:nvPr/>
        </p:nvSpPr>
        <p:spPr>
          <a:xfrm>
            <a:off x="6706949" y="1697626"/>
            <a:ext cx="4283832" cy="68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Reproducción</a:t>
            </a:r>
            <a:r>
              <a:rPr lang="en-US" sz="35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clips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29352" y="542966"/>
            <a:ext cx="9557249" cy="104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0"/>
              </a:lnSpc>
            </a:pPr>
            <a:r>
              <a:rPr lang="en-US" sz="730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IMPLEMENTACION</a:t>
            </a:r>
          </a:p>
        </p:txBody>
      </p:sp>
      <p:sp>
        <p:nvSpPr>
          <p:cNvPr id="6" name="AutoShape 6"/>
          <p:cNvSpPr/>
          <p:nvPr/>
        </p:nvSpPr>
        <p:spPr>
          <a:xfrm>
            <a:off x="3212831" y="1599859"/>
            <a:ext cx="1060214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3159673" y="3098221"/>
            <a:ext cx="12696607" cy="6160079"/>
          </a:xfrm>
          <a:custGeom>
            <a:avLst/>
            <a:gdLst/>
            <a:ahLst/>
            <a:cxnLst/>
            <a:rect l="l" t="t" r="r" b="b"/>
            <a:pathLst>
              <a:path w="12696607" h="6160079">
                <a:moveTo>
                  <a:pt x="0" y="0"/>
                </a:moveTo>
                <a:lnTo>
                  <a:pt x="12696607" y="0"/>
                </a:lnTo>
                <a:lnTo>
                  <a:pt x="12696607" y="6160079"/>
                </a:lnTo>
                <a:lnTo>
                  <a:pt x="0" y="6160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TextBox 8"/>
          <p:cNvSpPr txBox="1"/>
          <p:nvPr/>
        </p:nvSpPr>
        <p:spPr>
          <a:xfrm>
            <a:off x="5943600" y="1718641"/>
            <a:ext cx="5774903" cy="68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Reportes</a:t>
            </a:r>
            <a:r>
              <a:rPr lang="en-US" sz="35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al </a:t>
            </a:r>
            <a:r>
              <a:rPr lang="en-US" sz="3599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correo</a:t>
            </a:r>
            <a:r>
              <a:rPr lang="en-US" sz="35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599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electrónico</a:t>
            </a:r>
            <a:endParaRPr lang="en-US" sz="3599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29352" y="542966"/>
            <a:ext cx="9557249" cy="104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0"/>
              </a:lnSpc>
            </a:pPr>
            <a:r>
              <a:rPr lang="en-US" sz="730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IMPLEMENTACION</a:t>
            </a:r>
          </a:p>
        </p:txBody>
      </p:sp>
      <p:sp>
        <p:nvSpPr>
          <p:cNvPr id="6" name="AutoShape 6"/>
          <p:cNvSpPr/>
          <p:nvPr/>
        </p:nvSpPr>
        <p:spPr>
          <a:xfrm>
            <a:off x="3212831" y="1599859"/>
            <a:ext cx="1060214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3252485" y="2714944"/>
            <a:ext cx="11192760" cy="3477646"/>
          </a:xfrm>
          <a:custGeom>
            <a:avLst/>
            <a:gdLst/>
            <a:ahLst/>
            <a:cxnLst/>
            <a:rect l="l" t="t" r="r" b="b"/>
            <a:pathLst>
              <a:path w="11192760" h="3477646">
                <a:moveTo>
                  <a:pt x="0" y="0"/>
                </a:moveTo>
                <a:lnTo>
                  <a:pt x="11192760" y="0"/>
                </a:lnTo>
                <a:lnTo>
                  <a:pt x="11192760" y="3477646"/>
                </a:lnTo>
                <a:lnTo>
                  <a:pt x="0" y="3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>
            <a:off x="3252485" y="6468815"/>
            <a:ext cx="11192760" cy="3434472"/>
          </a:xfrm>
          <a:custGeom>
            <a:avLst/>
            <a:gdLst/>
            <a:ahLst/>
            <a:cxnLst/>
            <a:rect l="l" t="t" r="r" b="b"/>
            <a:pathLst>
              <a:path w="11192760" h="3434472">
                <a:moveTo>
                  <a:pt x="0" y="0"/>
                </a:moveTo>
                <a:lnTo>
                  <a:pt x="11192760" y="0"/>
                </a:lnTo>
                <a:lnTo>
                  <a:pt x="11192760" y="3434472"/>
                </a:lnTo>
                <a:lnTo>
                  <a:pt x="0" y="34344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15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TextBox 9"/>
          <p:cNvSpPr txBox="1"/>
          <p:nvPr/>
        </p:nvSpPr>
        <p:spPr>
          <a:xfrm>
            <a:off x="5356078" y="1837356"/>
            <a:ext cx="6985573" cy="611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Base de </a:t>
            </a:r>
            <a:r>
              <a:rPr lang="en-US" sz="3599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datos</a:t>
            </a:r>
            <a:r>
              <a:rPr lang="en-US" sz="35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599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</a:t>
            </a:r>
            <a:r>
              <a:rPr lang="en-US" sz="35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599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postgresql</a:t>
            </a:r>
            <a:endParaRPr lang="en-US" sz="3599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29352" y="542966"/>
            <a:ext cx="9557249" cy="104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0"/>
              </a:lnSpc>
            </a:pPr>
            <a:r>
              <a:rPr lang="en-US" sz="730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IMPLEMENTACION</a:t>
            </a:r>
          </a:p>
        </p:txBody>
      </p:sp>
      <p:sp>
        <p:nvSpPr>
          <p:cNvPr id="6" name="AutoShape 6"/>
          <p:cNvSpPr/>
          <p:nvPr/>
        </p:nvSpPr>
        <p:spPr>
          <a:xfrm>
            <a:off x="3212831" y="1599859"/>
            <a:ext cx="1060214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4839323" y="2438719"/>
            <a:ext cx="7431177" cy="7383793"/>
          </a:xfrm>
          <a:custGeom>
            <a:avLst/>
            <a:gdLst/>
            <a:ahLst/>
            <a:cxnLst/>
            <a:rect l="l" t="t" r="r" b="b"/>
            <a:pathLst>
              <a:path w="7431177" h="7383793">
                <a:moveTo>
                  <a:pt x="0" y="0"/>
                </a:moveTo>
                <a:lnTo>
                  <a:pt x="7431177" y="0"/>
                </a:lnTo>
                <a:lnTo>
                  <a:pt x="7431177" y="7383793"/>
                </a:lnTo>
                <a:lnTo>
                  <a:pt x="0" y="73837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095" r="-8587" b="-7095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TextBox 8"/>
          <p:cNvSpPr txBox="1"/>
          <p:nvPr/>
        </p:nvSpPr>
        <p:spPr>
          <a:xfrm>
            <a:off x="6001614" y="1699243"/>
            <a:ext cx="5024576" cy="611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Parte</a:t>
            </a:r>
            <a:r>
              <a:rPr lang="en-US" sz="35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del script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89661" y="878938"/>
            <a:ext cx="11881708" cy="1109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b="1" spc="646">
                <a:solidFill>
                  <a:srgbClr val="3533CD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Decisiones técnicas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00200" y="2705100"/>
            <a:ext cx="13944609" cy="679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96"/>
              </a:lnSpc>
            </a:pP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Durante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desarrollo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proyecto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, para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cumplir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cada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requisito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fue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necesario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analizar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cuidadosamente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qué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tecnologías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utilizar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cada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función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Sabíamos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existían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softwares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especializados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cámaras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ya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incluían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características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detección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de personas o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generación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reportes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; sin embargo, la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mayoría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eran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pago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o no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permitían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añadir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las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funciones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nosotros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considerábamos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necesarias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4096"/>
              </a:lnSpc>
            </a:pPr>
            <a:endParaRPr lang="en-US" sz="2600" dirty="0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096"/>
              </a:lnSpc>
            </a:pP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Nuestra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visión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sistema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era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distinta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a lo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esos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programas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ofrecían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por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lo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optamos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por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construir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solución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desde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cero,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diseñando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adaptando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cada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componente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acuerdo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nuestras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necesidades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específicas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. Esta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decisión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nos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permitió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tener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mayor control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sobre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diseño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, la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funcionalidad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y la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escalabilidad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sistema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además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adquirir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un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aprendizaje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profundo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sobre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las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tecnologías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involucradas</a:t>
            </a:r>
            <a:r>
              <a:rPr lang="en-US" sz="26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4" name="AutoShape 4"/>
          <p:cNvSpPr/>
          <p:nvPr/>
        </p:nvSpPr>
        <p:spPr>
          <a:xfrm>
            <a:off x="2389661" y="2189184"/>
            <a:ext cx="1152201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442977" y="1674725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1392071" y="-1129920"/>
            <a:ext cx="2420771" cy="2588333"/>
            <a:chOff x="0" y="0"/>
            <a:chExt cx="637569" cy="6817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7569" cy="681701"/>
            </a:xfrm>
            <a:custGeom>
              <a:avLst/>
              <a:gdLst/>
              <a:ahLst/>
              <a:cxnLst/>
              <a:rect l="l" t="t" r="r" b="b"/>
              <a:pathLst>
                <a:path w="637569" h="681701">
                  <a:moveTo>
                    <a:pt x="163104" y="0"/>
                  </a:moveTo>
                  <a:lnTo>
                    <a:pt x="474465" y="0"/>
                  </a:lnTo>
                  <a:cubicBezTo>
                    <a:pt x="564545" y="0"/>
                    <a:pt x="637569" y="73024"/>
                    <a:pt x="637569" y="163104"/>
                  </a:cubicBezTo>
                  <a:lnTo>
                    <a:pt x="637569" y="518597"/>
                  </a:lnTo>
                  <a:cubicBezTo>
                    <a:pt x="637569" y="608677"/>
                    <a:pt x="564545" y="681701"/>
                    <a:pt x="474465" y="681701"/>
                  </a:cubicBezTo>
                  <a:lnTo>
                    <a:pt x="163104" y="681701"/>
                  </a:lnTo>
                  <a:cubicBezTo>
                    <a:pt x="73024" y="681701"/>
                    <a:pt x="0" y="608677"/>
                    <a:pt x="0" y="518597"/>
                  </a:cubicBezTo>
                  <a:lnTo>
                    <a:pt x="0" y="163104"/>
                  </a:lnTo>
                  <a:cubicBezTo>
                    <a:pt x="0" y="73024"/>
                    <a:pt x="73024" y="0"/>
                    <a:pt x="163104" y="0"/>
                  </a:cubicBez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33375"/>
              <a:ext cx="637569" cy="1015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59300" y="-965251"/>
            <a:ext cx="3135684" cy="2588333"/>
            <a:chOff x="0" y="0"/>
            <a:chExt cx="825859" cy="6817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5859" cy="681701"/>
            </a:xfrm>
            <a:custGeom>
              <a:avLst/>
              <a:gdLst/>
              <a:ahLst/>
              <a:cxnLst/>
              <a:rect l="l" t="t" r="r" b="b"/>
              <a:pathLst>
                <a:path w="825859" h="681701">
                  <a:moveTo>
                    <a:pt x="125918" y="0"/>
                  </a:moveTo>
                  <a:lnTo>
                    <a:pt x="699941" y="0"/>
                  </a:lnTo>
                  <a:cubicBezTo>
                    <a:pt x="769484" y="0"/>
                    <a:pt x="825859" y="56375"/>
                    <a:pt x="825859" y="125918"/>
                  </a:cubicBezTo>
                  <a:lnTo>
                    <a:pt x="825859" y="555783"/>
                  </a:lnTo>
                  <a:cubicBezTo>
                    <a:pt x="825859" y="625326"/>
                    <a:pt x="769484" y="681701"/>
                    <a:pt x="699941" y="681701"/>
                  </a:cubicBezTo>
                  <a:lnTo>
                    <a:pt x="125918" y="681701"/>
                  </a:lnTo>
                  <a:cubicBezTo>
                    <a:pt x="56375" y="681701"/>
                    <a:pt x="0" y="625326"/>
                    <a:pt x="0" y="555783"/>
                  </a:cubicBezTo>
                  <a:lnTo>
                    <a:pt x="0" y="125918"/>
                  </a:lnTo>
                  <a:cubicBezTo>
                    <a:pt x="0" y="56375"/>
                    <a:pt x="56375" y="0"/>
                    <a:pt x="125918" y="0"/>
                  </a:cubicBez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33375"/>
              <a:ext cx="825859" cy="1015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173394" y="9765836"/>
            <a:ext cx="6936742" cy="1002644"/>
            <a:chOff x="0" y="0"/>
            <a:chExt cx="1826961" cy="2640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26961" cy="264071"/>
            </a:xfrm>
            <a:custGeom>
              <a:avLst/>
              <a:gdLst/>
              <a:ahLst/>
              <a:cxnLst/>
              <a:rect l="l" t="t" r="r" b="b"/>
              <a:pathLst>
                <a:path w="1826961" h="264071">
                  <a:moveTo>
                    <a:pt x="56920" y="0"/>
                  </a:moveTo>
                  <a:lnTo>
                    <a:pt x="1770041" y="0"/>
                  </a:lnTo>
                  <a:cubicBezTo>
                    <a:pt x="1785137" y="0"/>
                    <a:pt x="1799615" y="5997"/>
                    <a:pt x="1810289" y="16671"/>
                  </a:cubicBezTo>
                  <a:cubicBezTo>
                    <a:pt x="1820964" y="27346"/>
                    <a:pt x="1826961" y="41824"/>
                    <a:pt x="1826961" y="56920"/>
                  </a:cubicBezTo>
                  <a:lnTo>
                    <a:pt x="1826961" y="207151"/>
                  </a:lnTo>
                  <a:cubicBezTo>
                    <a:pt x="1826961" y="222247"/>
                    <a:pt x="1820964" y="236725"/>
                    <a:pt x="1810289" y="247400"/>
                  </a:cubicBezTo>
                  <a:cubicBezTo>
                    <a:pt x="1799615" y="258074"/>
                    <a:pt x="1785137" y="264071"/>
                    <a:pt x="1770041" y="264071"/>
                  </a:cubicBezTo>
                  <a:lnTo>
                    <a:pt x="56920" y="264071"/>
                  </a:lnTo>
                  <a:cubicBezTo>
                    <a:pt x="41824" y="264071"/>
                    <a:pt x="27346" y="258074"/>
                    <a:pt x="16671" y="247400"/>
                  </a:cubicBezTo>
                  <a:cubicBezTo>
                    <a:pt x="5997" y="236725"/>
                    <a:pt x="0" y="222247"/>
                    <a:pt x="0" y="207151"/>
                  </a:cubicBezTo>
                  <a:lnTo>
                    <a:pt x="0" y="56920"/>
                  </a:lnTo>
                  <a:cubicBezTo>
                    <a:pt x="0" y="41824"/>
                    <a:pt x="5997" y="27346"/>
                    <a:pt x="16671" y="16671"/>
                  </a:cubicBezTo>
                  <a:cubicBezTo>
                    <a:pt x="27346" y="5997"/>
                    <a:pt x="41824" y="0"/>
                    <a:pt x="56920" y="0"/>
                  </a:cubicBez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33375"/>
              <a:ext cx="1826961" cy="597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715390" y="395591"/>
            <a:ext cx="8373354" cy="112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780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CONCLUSIONES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18354" y="2832419"/>
            <a:ext cx="14651291" cy="4555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Durante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proyecto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enfrentamos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diversos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problemas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técnicos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logísticos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integración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librerías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Python, la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configuración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servidor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VPS y la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gestión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procesos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segundo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plano.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Estos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retos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fueron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superados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mediante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investigación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prueba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 error,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logrando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soluciones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estables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funcionales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endParaRPr lang="en-US" sz="25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mismo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tiempo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proceso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permitió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aprender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nuevas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tecnologías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desde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manejo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Linux y sus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comandos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hasta la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implementación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servicios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web y la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personalización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página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dominio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propio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Este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aprendizaje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práctico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dio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experiencia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valiosa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aplicable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futuros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proyectos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profesionales</a:t>
            </a:r>
            <a:r>
              <a: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5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00614" y="4319935"/>
            <a:ext cx="8373354" cy="112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780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 rot="-3503507">
            <a:off x="-2356457" y="6564794"/>
            <a:ext cx="5968439" cy="2484763"/>
            <a:chOff x="0" y="0"/>
            <a:chExt cx="1571935" cy="6544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71935" cy="654423"/>
            </a:xfrm>
            <a:custGeom>
              <a:avLst/>
              <a:gdLst/>
              <a:ahLst/>
              <a:cxnLst/>
              <a:rect l="l" t="t" r="r" b="b"/>
              <a:pathLst>
                <a:path w="1571935" h="654423">
                  <a:moveTo>
                    <a:pt x="66154" y="0"/>
                  </a:moveTo>
                  <a:lnTo>
                    <a:pt x="1505780" y="0"/>
                  </a:lnTo>
                  <a:cubicBezTo>
                    <a:pt x="1523326" y="0"/>
                    <a:pt x="1540152" y="6970"/>
                    <a:pt x="1552558" y="19376"/>
                  </a:cubicBezTo>
                  <a:cubicBezTo>
                    <a:pt x="1564965" y="31782"/>
                    <a:pt x="1571935" y="48609"/>
                    <a:pt x="1571935" y="66154"/>
                  </a:cubicBezTo>
                  <a:lnTo>
                    <a:pt x="1571935" y="588269"/>
                  </a:lnTo>
                  <a:cubicBezTo>
                    <a:pt x="1571935" y="624805"/>
                    <a:pt x="1542316" y="654423"/>
                    <a:pt x="1505780" y="654423"/>
                  </a:cubicBezTo>
                  <a:lnTo>
                    <a:pt x="66154" y="654423"/>
                  </a:lnTo>
                  <a:cubicBezTo>
                    <a:pt x="29618" y="654423"/>
                    <a:pt x="0" y="624805"/>
                    <a:pt x="0" y="588269"/>
                  </a:cubicBezTo>
                  <a:lnTo>
                    <a:pt x="0" y="66154"/>
                  </a:lnTo>
                  <a:cubicBezTo>
                    <a:pt x="0" y="29618"/>
                    <a:pt x="29618" y="0"/>
                    <a:pt x="66154" y="0"/>
                  </a:cubicBezTo>
                  <a:close/>
                </a:path>
              </a:pathLst>
            </a:custGeom>
            <a:solidFill>
              <a:srgbClr val="5E17EB">
                <a:alpha val="51765"/>
              </a:srgbClr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33375"/>
              <a:ext cx="1571935" cy="987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3503507">
            <a:off x="14958997" y="1874234"/>
            <a:ext cx="6145518" cy="2741564"/>
            <a:chOff x="0" y="0"/>
            <a:chExt cx="1618573" cy="7220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18573" cy="722058"/>
            </a:xfrm>
            <a:custGeom>
              <a:avLst/>
              <a:gdLst/>
              <a:ahLst/>
              <a:cxnLst/>
              <a:rect l="l" t="t" r="r" b="b"/>
              <a:pathLst>
                <a:path w="1618573" h="722058">
                  <a:moveTo>
                    <a:pt x="64248" y="0"/>
                  </a:moveTo>
                  <a:lnTo>
                    <a:pt x="1554325" y="0"/>
                  </a:lnTo>
                  <a:cubicBezTo>
                    <a:pt x="1571364" y="0"/>
                    <a:pt x="1587706" y="6769"/>
                    <a:pt x="1599755" y="18818"/>
                  </a:cubicBezTo>
                  <a:cubicBezTo>
                    <a:pt x="1611804" y="30867"/>
                    <a:pt x="1618573" y="47208"/>
                    <a:pt x="1618573" y="64248"/>
                  </a:cubicBezTo>
                  <a:lnTo>
                    <a:pt x="1618573" y="657810"/>
                  </a:lnTo>
                  <a:cubicBezTo>
                    <a:pt x="1618573" y="674850"/>
                    <a:pt x="1611804" y="691191"/>
                    <a:pt x="1599755" y="703240"/>
                  </a:cubicBezTo>
                  <a:cubicBezTo>
                    <a:pt x="1587706" y="715289"/>
                    <a:pt x="1571364" y="722058"/>
                    <a:pt x="1554325" y="722058"/>
                  </a:cubicBezTo>
                  <a:lnTo>
                    <a:pt x="64248" y="722058"/>
                  </a:lnTo>
                  <a:cubicBezTo>
                    <a:pt x="47208" y="722058"/>
                    <a:pt x="30867" y="715289"/>
                    <a:pt x="18818" y="703240"/>
                  </a:cubicBezTo>
                  <a:cubicBezTo>
                    <a:pt x="6769" y="691191"/>
                    <a:pt x="0" y="674850"/>
                    <a:pt x="0" y="657810"/>
                  </a:cubicBezTo>
                  <a:lnTo>
                    <a:pt x="0" y="64248"/>
                  </a:lnTo>
                  <a:cubicBezTo>
                    <a:pt x="0" y="47208"/>
                    <a:pt x="6769" y="30867"/>
                    <a:pt x="18818" y="18818"/>
                  </a:cubicBezTo>
                  <a:cubicBezTo>
                    <a:pt x="30867" y="6769"/>
                    <a:pt x="47208" y="0"/>
                    <a:pt x="64248" y="0"/>
                  </a:cubicBezTo>
                  <a:close/>
                </a:path>
              </a:pathLst>
            </a:custGeom>
            <a:solidFill>
              <a:srgbClr val="5E17EB">
                <a:alpha val="47843"/>
              </a:srgbClr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33375"/>
              <a:ext cx="1618573" cy="1055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558</Words>
  <Application>Microsoft Office PowerPoint</Application>
  <PresentationFormat>Personalizado</PresentationFormat>
  <Paragraphs>62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Poppins Bold Italics</vt:lpstr>
      <vt:lpstr>Canva Sans Bold</vt:lpstr>
      <vt:lpstr>Poppins</vt:lpstr>
      <vt:lpstr>Calibri</vt:lpstr>
      <vt:lpstr>Arial</vt:lpstr>
      <vt:lpstr>Times New Roman MT</vt:lpstr>
      <vt:lpstr>Poppins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TECHSECURE S.A. DE C.V</dc:title>
  <cp:lastModifiedBy>Delgado Cervantes Abel Azael</cp:lastModifiedBy>
  <cp:revision>4</cp:revision>
  <dcterms:created xsi:type="dcterms:W3CDTF">2006-08-16T00:00:00Z</dcterms:created>
  <dcterms:modified xsi:type="dcterms:W3CDTF">2025-12-06T23:06:03Z</dcterms:modified>
  <dc:identifier>DAG51Z8jEIU</dc:identifier>
</cp:coreProperties>
</file>